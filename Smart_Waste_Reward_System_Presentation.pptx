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0" d="100"/>
          <a:sy n="60" d="100"/>
        </p:scale>
        <p:origin x="47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CE8968-E24F-4FDF-BCEC-28D31706515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4DA0542-C449-43DF-8EC3-B3F1CA9C350B}">
      <dgm:prSet/>
      <dgm:spPr/>
      <dgm:t>
        <a:bodyPr/>
        <a:lstStyle/>
        <a:p>
          <a:r>
            <a:rPr lang="en-US"/>
            <a:t>• Measures weight of waste deposited by users.</a:t>
          </a:r>
        </a:p>
      </dgm:t>
    </dgm:pt>
    <dgm:pt modelId="{8BD159CA-951D-454E-AFC8-3DCFF0C1293E}" type="parTrans" cxnId="{AE3B4137-211B-438A-B7F0-894CC05D3CBF}">
      <dgm:prSet/>
      <dgm:spPr/>
      <dgm:t>
        <a:bodyPr/>
        <a:lstStyle/>
        <a:p>
          <a:endParaRPr lang="en-US"/>
        </a:p>
      </dgm:t>
    </dgm:pt>
    <dgm:pt modelId="{1045FD28-00EC-417A-86A9-FBB7270C6664}" type="sibTrans" cxnId="{AE3B4137-211B-438A-B7F0-894CC05D3CBF}">
      <dgm:prSet/>
      <dgm:spPr/>
      <dgm:t>
        <a:bodyPr/>
        <a:lstStyle/>
        <a:p>
          <a:endParaRPr lang="en-US"/>
        </a:p>
      </dgm:t>
    </dgm:pt>
    <dgm:pt modelId="{459E6B4A-0C97-4102-B42B-4EAA939D11EC}">
      <dgm:prSet/>
      <dgm:spPr/>
      <dgm:t>
        <a:bodyPr/>
        <a:lstStyle/>
        <a:p>
          <a:r>
            <a:rPr lang="en-US"/>
            <a:t>• Identifies waste type and credits money or points via mobile app.</a:t>
          </a:r>
        </a:p>
      </dgm:t>
    </dgm:pt>
    <dgm:pt modelId="{05C58EE5-8472-4EE5-BDEF-C23CF27373A4}" type="parTrans" cxnId="{79A72125-CC12-4C0D-AD94-BEA8046CDF7C}">
      <dgm:prSet/>
      <dgm:spPr/>
      <dgm:t>
        <a:bodyPr/>
        <a:lstStyle/>
        <a:p>
          <a:endParaRPr lang="en-US"/>
        </a:p>
      </dgm:t>
    </dgm:pt>
    <dgm:pt modelId="{BE5B7B9D-178C-400C-B3B0-72505745CF7F}" type="sibTrans" cxnId="{79A72125-CC12-4C0D-AD94-BEA8046CDF7C}">
      <dgm:prSet/>
      <dgm:spPr/>
      <dgm:t>
        <a:bodyPr/>
        <a:lstStyle/>
        <a:p>
          <a:endParaRPr lang="en-US"/>
        </a:p>
      </dgm:t>
    </dgm:pt>
    <dgm:pt modelId="{03BFA52F-EF72-4108-A2CD-9FE53A3F8A98}">
      <dgm:prSet/>
      <dgm:spPr/>
      <dgm:t>
        <a:bodyPr/>
        <a:lstStyle/>
        <a:p>
          <a:r>
            <a:rPr lang="en-US"/>
            <a:t>• Encourages recycling and cleanliness in public areas.</a:t>
          </a:r>
        </a:p>
      </dgm:t>
    </dgm:pt>
    <dgm:pt modelId="{0CF3E711-29F6-4ADA-9EA3-6338C9CF807F}" type="parTrans" cxnId="{8C2B9C89-E27D-40B2-8724-705DF4FDBD8F}">
      <dgm:prSet/>
      <dgm:spPr/>
      <dgm:t>
        <a:bodyPr/>
        <a:lstStyle/>
        <a:p>
          <a:endParaRPr lang="en-US"/>
        </a:p>
      </dgm:t>
    </dgm:pt>
    <dgm:pt modelId="{D396248A-F825-4BDA-B889-9F17D29A6FD1}" type="sibTrans" cxnId="{8C2B9C89-E27D-40B2-8724-705DF4FDBD8F}">
      <dgm:prSet/>
      <dgm:spPr/>
      <dgm:t>
        <a:bodyPr/>
        <a:lstStyle/>
        <a:p>
          <a:endParaRPr lang="en-US"/>
        </a:p>
      </dgm:t>
    </dgm:pt>
    <dgm:pt modelId="{70DF9426-904F-418E-805C-79EFB54B33BB}">
      <dgm:prSet/>
      <dgm:spPr/>
      <dgm:t>
        <a:bodyPr/>
        <a:lstStyle/>
        <a:p>
          <a:r>
            <a:rPr lang="en-US"/>
            <a:t>• Rewards responsible waste disposal with real incentives.</a:t>
          </a:r>
        </a:p>
      </dgm:t>
    </dgm:pt>
    <dgm:pt modelId="{6B7C7368-5D3F-41F6-B4A5-CF4A890B64B6}" type="parTrans" cxnId="{885A25EB-43A3-4DE6-B2E1-2EB145455336}">
      <dgm:prSet/>
      <dgm:spPr/>
      <dgm:t>
        <a:bodyPr/>
        <a:lstStyle/>
        <a:p>
          <a:endParaRPr lang="en-US"/>
        </a:p>
      </dgm:t>
    </dgm:pt>
    <dgm:pt modelId="{38D427BE-C8A2-4873-80E8-F6C81475B956}" type="sibTrans" cxnId="{885A25EB-43A3-4DE6-B2E1-2EB145455336}">
      <dgm:prSet/>
      <dgm:spPr/>
      <dgm:t>
        <a:bodyPr/>
        <a:lstStyle/>
        <a:p>
          <a:endParaRPr lang="en-US"/>
        </a:p>
      </dgm:t>
    </dgm:pt>
    <dgm:pt modelId="{5107A4B9-0897-4C6A-89D0-3A4000A2488C}" type="pres">
      <dgm:prSet presAssocID="{C8CE8968-E24F-4FDF-BCEC-28D31706515C}" presName="linear" presStyleCnt="0">
        <dgm:presLayoutVars>
          <dgm:animLvl val="lvl"/>
          <dgm:resizeHandles val="exact"/>
        </dgm:presLayoutVars>
      </dgm:prSet>
      <dgm:spPr/>
    </dgm:pt>
    <dgm:pt modelId="{53DBD2FB-3310-46E4-B258-6305F689F5E5}" type="pres">
      <dgm:prSet presAssocID="{F4DA0542-C449-43DF-8EC3-B3F1CA9C350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05996E-4029-412D-9AC7-86E37387628E}" type="pres">
      <dgm:prSet presAssocID="{1045FD28-00EC-417A-86A9-FBB7270C6664}" presName="spacer" presStyleCnt="0"/>
      <dgm:spPr/>
    </dgm:pt>
    <dgm:pt modelId="{167A0A8C-7A5B-4692-A451-D665F15A479D}" type="pres">
      <dgm:prSet presAssocID="{459E6B4A-0C97-4102-B42B-4EAA939D11E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9D13F90-8493-4A8A-9CBC-CD179FC53ED5}" type="pres">
      <dgm:prSet presAssocID="{BE5B7B9D-178C-400C-B3B0-72505745CF7F}" presName="spacer" presStyleCnt="0"/>
      <dgm:spPr/>
    </dgm:pt>
    <dgm:pt modelId="{7E63F4F4-1C32-44DB-93F6-21C5CB8F8A38}" type="pres">
      <dgm:prSet presAssocID="{03BFA52F-EF72-4108-A2CD-9FE53A3F8A9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296DF90-6457-4607-84C0-8914916150CF}" type="pres">
      <dgm:prSet presAssocID="{D396248A-F825-4BDA-B889-9F17D29A6FD1}" presName="spacer" presStyleCnt="0"/>
      <dgm:spPr/>
    </dgm:pt>
    <dgm:pt modelId="{E4095E94-288F-49DF-8E18-50F18EE3CE83}" type="pres">
      <dgm:prSet presAssocID="{70DF9426-904F-418E-805C-79EFB54B33B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BD2D723-F3E1-47A0-A925-F7F7EE21CE55}" type="presOf" srcId="{03BFA52F-EF72-4108-A2CD-9FE53A3F8A98}" destId="{7E63F4F4-1C32-44DB-93F6-21C5CB8F8A38}" srcOrd="0" destOrd="0" presId="urn:microsoft.com/office/officeart/2005/8/layout/vList2"/>
    <dgm:cxn modelId="{79A72125-CC12-4C0D-AD94-BEA8046CDF7C}" srcId="{C8CE8968-E24F-4FDF-BCEC-28D31706515C}" destId="{459E6B4A-0C97-4102-B42B-4EAA939D11EC}" srcOrd="1" destOrd="0" parTransId="{05C58EE5-8472-4EE5-BDEF-C23CF27373A4}" sibTransId="{BE5B7B9D-178C-400C-B3B0-72505745CF7F}"/>
    <dgm:cxn modelId="{AE3B4137-211B-438A-B7F0-894CC05D3CBF}" srcId="{C8CE8968-E24F-4FDF-BCEC-28D31706515C}" destId="{F4DA0542-C449-43DF-8EC3-B3F1CA9C350B}" srcOrd="0" destOrd="0" parTransId="{8BD159CA-951D-454E-AFC8-3DCFF0C1293E}" sibTransId="{1045FD28-00EC-417A-86A9-FBB7270C6664}"/>
    <dgm:cxn modelId="{E181885A-2F35-4623-AE34-322BC8E954C1}" type="presOf" srcId="{459E6B4A-0C97-4102-B42B-4EAA939D11EC}" destId="{167A0A8C-7A5B-4692-A451-D665F15A479D}" srcOrd="0" destOrd="0" presId="urn:microsoft.com/office/officeart/2005/8/layout/vList2"/>
    <dgm:cxn modelId="{8C2B9C89-E27D-40B2-8724-705DF4FDBD8F}" srcId="{C8CE8968-E24F-4FDF-BCEC-28D31706515C}" destId="{03BFA52F-EF72-4108-A2CD-9FE53A3F8A98}" srcOrd="2" destOrd="0" parTransId="{0CF3E711-29F6-4ADA-9EA3-6338C9CF807F}" sibTransId="{D396248A-F825-4BDA-B889-9F17D29A6FD1}"/>
    <dgm:cxn modelId="{1F4BB38D-6631-437D-9B51-B80582B606DE}" type="presOf" srcId="{70DF9426-904F-418E-805C-79EFB54B33BB}" destId="{E4095E94-288F-49DF-8E18-50F18EE3CE83}" srcOrd="0" destOrd="0" presId="urn:microsoft.com/office/officeart/2005/8/layout/vList2"/>
    <dgm:cxn modelId="{AC1622A7-1D83-4EE8-BE1B-6B105D99D9D0}" type="presOf" srcId="{F4DA0542-C449-43DF-8EC3-B3F1CA9C350B}" destId="{53DBD2FB-3310-46E4-B258-6305F689F5E5}" srcOrd="0" destOrd="0" presId="urn:microsoft.com/office/officeart/2005/8/layout/vList2"/>
    <dgm:cxn modelId="{885A25EB-43A3-4DE6-B2E1-2EB145455336}" srcId="{C8CE8968-E24F-4FDF-BCEC-28D31706515C}" destId="{70DF9426-904F-418E-805C-79EFB54B33BB}" srcOrd="3" destOrd="0" parTransId="{6B7C7368-5D3F-41F6-B4A5-CF4A890B64B6}" sibTransId="{38D427BE-C8A2-4873-80E8-F6C81475B956}"/>
    <dgm:cxn modelId="{DBE32EF7-C955-45EA-A665-9B6D5A01CC3B}" type="presOf" srcId="{C8CE8968-E24F-4FDF-BCEC-28D31706515C}" destId="{5107A4B9-0897-4C6A-89D0-3A4000A2488C}" srcOrd="0" destOrd="0" presId="urn:microsoft.com/office/officeart/2005/8/layout/vList2"/>
    <dgm:cxn modelId="{878542F4-B594-41BC-ABB7-9B8F364B1C40}" type="presParOf" srcId="{5107A4B9-0897-4C6A-89D0-3A4000A2488C}" destId="{53DBD2FB-3310-46E4-B258-6305F689F5E5}" srcOrd="0" destOrd="0" presId="urn:microsoft.com/office/officeart/2005/8/layout/vList2"/>
    <dgm:cxn modelId="{3347ACAD-0CDA-4B39-A5FC-EE372B726D70}" type="presParOf" srcId="{5107A4B9-0897-4C6A-89D0-3A4000A2488C}" destId="{3105996E-4029-412D-9AC7-86E37387628E}" srcOrd="1" destOrd="0" presId="urn:microsoft.com/office/officeart/2005/8/layout/vList2"/>
    <dgm:cxn modelId="{4D403668-E5CB-44B3-973F-7ADEE2B5BEA5}" type="presParOf" srcId="{5107A4B9-0897-4C6A-89D0-3A4000A2488C}" destId="{167A0A8C-7A5B-4692-A451-D665F15A479D}" srcOrd="2" destOrd="0" presId="urn:microsoft.com/office/officeart/2005/8/layout/vList2"/>
    <dgm:cxn modelId="{888D1339-FC6A-49EC-B643-67D4B692FEEE}" type="presParOf" srcId="{5107A4B9-0897-4C6A-89D0-3A4000A2488C}" destId="{C9D13F90-8493-4A8A-9CBC-CD179FC53ED5}" srcOrd="3" destOrd="0" presId="urn:microsoft.com/office/officeart/2005/8/layout/vList2"/>
    <dgm:cxn modelId="{715F85B9-3FDA-4FE7-B64F-CBDA62EF996F}" type="presParOf" srcId="{5107A4B9-0897-4C6A-89D0-3A4000A2488C}" destId="{7E63F4F4-1C32-44DB-93F6-21C5CB8F8A38}" srcOrd="4" destOrd="0" presId="urn:microsoft.com/office/officeart/2005/8/layout/vList2"/>
    <dgm:cxn modelId="{147E85EB-F5E0-4587-836D-51D2B69069B1}" type="presParOf" srcId="{5107A4B9-0897-4C6A-89D0-3A4000A2488C}" destId="{C296DF90-6457-4607-84C0-8914916150CF}" srcOrd="5" destOrd="0" presId="urn:microsoft.com/office/officeart/2005/8/layout/vList2"/>
    <dgm:cxn modelId="{4E0D3F14-7CE6-45C8-9B04-7E0E51A0E1D7}" type="presParOf" srcId="{5107A4B9-0897-4C6A-89D0-3A4000A2488C}" destId="{E4095E94-288F-49DF-8E18-50F18EE3CE8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BD2FB-3310-46E4-B258-6305F689F5E5}">
      <dsp:nvSpPr>
        <dsp:cNvPr id="0" name=""/>
        <dsp:cNvSpPr/>
      </dsp:nvSpPr>
      <dsp:spPr>
        <a:xfrm>
          <a:off x="0" y="503310"/>
          <a:ext cx="5175384" cy="10740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Measures weight of waste deposited by users.</a:t>
          </a:r>
        </a:p>
      </dsp:txBody>
      <dsp:txXfrm>
        <a:off x="52431" y="555741"/>
        <a:ext cx="5070522" cy="969198"/>
      </dsp:txXfrm>
    </dsp:sp>
    <dsp:sp modelId="{167A0A8C-7A5B-4692-A451-D665F15A479D}">
      <dsp:nvSpPr>
        <dsp:cNvPr id="0" name=""/>
        <dsp:cNvSpPr/>
      </dsp:nvSpPr>
      <dsp:spPr>
        <a:xfrm>
          <a:off x="0" y="1655130"/>
          <a:ext cx="5175384" cy="107406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Identifies waste type and credits money or points via mobile app.</a:t>
          </a:r>
        </a:p>
      </dsp:txBody>
      <dsp:txXfrm>
        <a:off x="52431" y="1707561"/>
        <a:ext cx="5070522" cy="969198"/>
      </dsp:txXfrm>
    </dsp:sp>
    <dsp:sp modelId="{7E63F4F4-1C32-44DB-93F6-21C5CB8F8A38}">
      <dsp:nvSpPr>
        <dsp:cNvPr id="0" name=""/>
        <dsp:cNvSpPr/>
      </dsp:nvSpPr>
      <dsp:spPr>
        <a:xfrm>
          <a:off x="0" y="2806950"/>
          <a:ext cx="5175384" cy="107406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Encourages recycling and cleanliness in public areas.</a:t>
          </a:r>
        </a:p>
      </dsp:txBody>
      <dsp:txXfrm>
        <a:off x="52431" y="2859381"/>
        <a:ext cx="5070522" cy="969198"/>
      </dsp:txXfrm>
    </dsp:sp>
    <dsp:sp modelId="{E4095E94-288F-49DF-8E18-50F18EE3CE83}">
      <dsp:nvSpPr>
        <dsp:cNvPr id="0" name=""/>
        <dsp:cNvSpPr/>
      </dsp:nvSpPr>
      <dsp:spPr>
        <a:xfrm>
          <a:off x="0" y="3958770"/>
          <a:ext cx="5175384" cy="107406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Rewards responsible waste disposal with real incentives.</a:t>
          </a:r>
        </a:p>
      </dsp:txBody>
      <dsp:txXfrm>
        <a:off x="52431" y="4011201"/>
        <a:ext cx="5070522" cy="969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Smart Waste Reward System</a:t>
            </a:r>
          </a:p>
          <a:p>
            <a:pPr algn="l"/>
            <a:r>
              <a:rPr lang="en-US" sz="4700"/>
              <a:t>(Trash-to-Cash Bin + Mobile App)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/>
            <a:r>
              <a:rPr lang="en-US"/>
              <a:t>Innovative solution for cleaner cities and incentivized recycling</a:t>
            </a:r>
          </a:p>
        </p:txBody>
      </p:sp>
      <p:pic>
        <p:nvPicPr>
          <p:cNvPr id="5" name="Picture 4" descr="Throwing empty plastic bottle into the trash">
            <a:extLst>
              <a:ext uri="{FF2B5EF4-FFF2-40B4-BE49-F238E27FC236}">
                <a16:creationId xmlns:a16="http://schemas.microsoft.com/office/drawing/2014/main" id="{E7DA73E6-BDB6-E961-45D0-2388AD7141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96" r="37906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🧩 Project Concept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1F86FA-840A-81C7-4936-7BB03B9D78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53323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958" y="1233241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📱 App Function &amp; User Flow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500"/>
              <a:t>1. User Registration</a:t>
            </a:r>
          </a:p>
          <a:p>
            <a:pPr>
              <a:lnSpc>
                <a:spcPct val="90000"/>
              </a:lnSpc>
            </a:pPr>
            <a:r>
              <a:rPr lang="en-US" sz="1500"/>
              <a:t>   - Register with name, phone, UPI/bank details.</a:t>
            </a:r>
          </a:p>
          <a:p>
            <a:pPr>
              <a:lnSpc>
                <a:spcPct val="90000"/>
              </a:lnSpc>
            </a:pPr>
            <a:r>
              <a:rPr lang="en-US" sz="1500"/>
              <a:t>   - Receive QR code or RFID card.</a:t>
            </a:r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/>
              <a:t>2. At the Smart Bin</a:t>
            </a:r>
          </a:p>
          <a:p>
            <a:pPr>
              <a:lnSpc>
                <a:spcPct val="90000"/>
              </a:lnSpc>
            </a:pPr>
            <a:r>
              <a:rPr lang="en-US" sz="1500"/>
              <a:t>   - Scan QR code to open bin.</a:t>
            </a:r>
          </a:p>
          <a:p>
            <a:pPr>
              <a:lnSpc>
                <a:spcPct val="90000"/>
              </a:lnSpc>
            </a:pPr>
            <a:r>
              <a:rPr lang="en-US" sz="1500"/>
              <a:t>   - Waste type &amp; weight detected via sensors.</a:t>
            </a:r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/>
              <a:t>3. Data Processing</a:t>
            </a:r>
          </a:p>
          <a:p>
            <a:pPr>
              <a:lnSpc>
                <a:spcPct val="90000"/>
              </a:lnSpc>
            </a:pPr>
            <a:r>
              <a:rPr lang="en-US" sz="1500"/>
              <a:t>   - Data sent to cloud via IoT.</a:t>
            </a:r>
          </a:p>
          <a:p>
            <a:pPr>
              <a:lnSpc>
                <a:spcPct val="90000"/>
              </a:lnSpc>
            </a:pPr>
            <a:r>
              <a:rPr lang="en-US" sz="1500"/>
              <a:t>   - Rewards calculated automatically.</a:t>
            </a:r>
          </a:p>
          <a:p>
            <a:pPr>
              <a:lnSpc>
                <a:spcPct val="90000"/>
              </a:lnSpc>
            </a:pPr>
            <a:endParaRPr lang="en-US" sz="1500"/>
          </a:p>
          <a:p>
            <a:pPr>
              <a:lnSpc>
                <a:spcPct val="90000"/>
              </a:lnSpc>
            </a:pPr>
            <a:r>
              <a:rPr lang="en-US" sz="1500"/>
              <a:t>4. Money Transfer / Rewards</a:t>
            </a:r>
          </a:p>
          <a:p>
            <a:pPr>
              <a:lnSpc>
                <a:spcPct val="90000"/>
              </a:lnSpc>
            </a:pPr>
            <a:r>
              <a:rPr lang="en-US" sz="1500"/>
              <a:t>   - Rewards credited to app wallet.</a:t>
            </a:r>
          </a:p>
          <a:p>
            <a:pPr>
              <a:lnSpc>
                <a:spcPct val="90000"/>
              </a:lnSpc>
            </a:pPr>
            <a:r>
              <a:rPr lang="en-US" sz="1500"/>
              <a:t>   - Redeem via UPI, vouchers, or discounts.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958" y="1233241"/>
            <a:ext cx="2430380" cy="4064628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💰 Money Calculation Idea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Reward rates based on waste type:</a:t>
            </a:r>
          </a:p>
          <a:p>
            <a:pPr>
              <a:lnSpc>
                <a:spcPct val="90000"/>
              </a:lnSpc>
            </a:pPr>
            <a:endParaRPr lang="en-US" sz="2500"/>
          </a:p>
          <a:p>
            <a:pPr>
              <a:lnSpc>
                <a:spcPct val="90000"/>
              </a:lnSpc>
            </a:pPr>
            <a:r>
              <a:rPr lang="en-US" sz="2500"/>
              <a:t>• Plastic – ₹5 / kg</a:t>
            </a:r>
          </a:p>
          <a:p>
            <a:pPr>
              <a:lnSpc>
                <a:spcPct val="90000"/>
              </a:lnSpc>
            </a:pPr>
            <a:r>
              <a:rPr lang="en-US" sz="2500"/>
              <a:t>• Paper – ₹7 / kg</a:t>
            </a:r>
          </a:p>
          <a:p>
            <a:pPr>
              <a:lnSpc>
                <a:spcPct val="90000"/>
              </a:lnSpc>
            </a:pPr>
            <a:r>
              <a:rPr lang="en-US" sz="2500"/>
              <a:t>• Metal – ₹20 / kg</a:t>
            </a:r>
          </a:p>
          <a:p>
            <a:pPr>
              <a:lnSpc>
                <a:spcPct val="90000"/>
              </a:lnSpc>
            </a:pPr>
            <a:r>
              <a:rPr lang="en-US" sz="2500"/>
              <a:t>• Glass – ₹3 / kg</a:t>
            </a:r>
          </a:p>
          <a:p>
            <a:pPr>
              <a:lnSpc>
                <a:spcPct val="90000"/>
              </a:lnSpc>
            </a:pPr>
            <a:r>
              <a:rPr lang="en-US" sz="2500"/>
              <a:t>• E-waste – ₹30 / kg</a:t>
            </a:r>
          </a:p>
          <a:p>
            <a:pPr>
              <a:lnSpc>
                <a:spcPct val="90000"/>
              </a:lnSpc>
            </a:pPr>
            <a:endParaRPr lang="en-US" sz="2500"/>
          </a:p>
          <a:p>
            <a:pPr>
              <a:lnSpc>
                <a:spcPct val="90000"/>
              </a:lnSpc>
            </a:pPr>
            <a:r>
              <a:rPr lang="en-US" sz="2500"/>
              <a:t>💡 Points system alternative: 1 point = ₹1 for easier management.</a:t>
            </a: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⚙️ Hardware Components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/>
              <a:t>• Weight Sensor (Load Cell)</a:t>
            </a:r>
          </a:p>
          <a:p>
            <a:pPr>
              <a:lnSpc>
                <a:spcPct val="90000"/>
              </a:lnSpc>
            </a:pPr>
            <a:r>
              <a:rPr lang="en-US" sz="2200"/>
              <a:t>• Microcontroller (Arduino / NodeMCU / Raspberry Pi)</a:t>
            </a:r>
          </a:p>
          <a:p>
            <a:pPr>
              <a:lnSpc>
                <a:spcPct val="90000"/>
              </a:lnSpc>
            </a:pPr>
            <a:r>
              <a:rPr lang="en-US" sz="2200"/>
              <a:t>• AI Camera or Waste-type Sensor</a:t>
            </a:r>
          </a:p>
          <a:p>
            <a:pPr>
              <a:lnSpc>
                <a:spcPct val="90000"/>
              </a:lnSpc>
            </a:pPr>
            <a:r>
              <a:rPr lang="en-US" sz="2200"/>
              <a:t>• QR Code / RFID Scanner</a:t>
            </a:r>
          </a:p>
          <a:p>
            <a:pPr>
              <a:lnSpc>
                <a:spcPct val="90000"/>
              </a:lnSpc>
            </a:pPr>
            <a:r>
              <a:rPr lang="en-US" sz="2200"/>
              <a:t>• IoT Module (Wi-Fi)</a:t>
            </a:r>
          </a:p>
          <a:p>
            <a:pPr>
              <a:lnSpc>
                <a:spcPct val="90000"/>
              </a:lnSpc>
            </a:pPr>
            <a:r>
              <a:rPr lang="en-US" sz="2200"/>
              <a:t>• LCD Display</a:t>
            </a:r>
          </a:p>
          <a:p>
            <a:pPr>
              <a:lnSpc>
                <a:spcPct val="90000"/>
              </a:lnSpc>
            </a:pPr>
            <a:r>
              <a:rPr lang="en-US" sz="2200"/>
              <a:t>• Solar Panel (optional)</a:t>
            </a:r>
          </a:p>
          <a:p>
            <a:pPr>
              <a:lnSpc>
                <a:spcPct val="90000"/>
              </a:lnSpc>
            </a:pPr>
            <a:r>
              <a:rPr lang="en-US" sz="2200"/>
              <a:t>• Segregated Waste Bins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958" y="1233241"/>
            <a:ext cx="2430380" cy="4064628"/>
          </a:xfrm>
        </p:spPr>
        <p:txBody>
          <a:bodyPr>
            <a:normAutofit/>
          </a:bodyPr>
          <a:lstStyle/>
          <a:p>
            <a:r>
              <a:rPr lang="en-US" sz="3400">
                <a:solidFill>
                  <a:srgbClr val="FFFFFF"/>
                </a:solidFill>
              </a:rPr>
              <a:t>🧠 Software Components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• Mobile App (Flutter / React Native)</a:t>
            </a:r>
          </a:p>
          <a:p>
            <a:pPr>
              <a:lnSpc>
                <a:spcPct val="90000"/>
              </a:lnSpc>
            </a:pPr>
            <a:r>
              <a:rPr lang="en-US" sz="3000"/>
              <a:t>• Backend Server (Firebase / Node.js)</a:t>
            </a:r>
          </a:p>
          <a:p>
            <a:pPr>
              <a:lnSpc>
                <a:spcPct val="90000"/>
              </a:lnSpc>
            </a:pPr>
            <a:r>
              <a:rPr lang="en-US" sz="3000"/>
              <a:t>• Cloud Database</a:t>
            </a:r>
          </a:p>
          <a:p>
            <a:pPr>
              <a:lnSpc>
                <a:spcPct val="90000"/>
              </a:lnSpc>
            </a:pPr>
            <a:r>
              <a:rPr lang="en-US" sz="3000"/>
              <a:t>• Admin Dashboard for authorities</a:t>
            </a:r>
          </a:p>
          <a:p>
            <a:pPr>
              <a:lnSpc>
                <a:spcPct val="90000"/>
              </a:lnSpc>
            </a:pPr>
            <a:r>
              <a:rPr lang="en-US" sz="3000"/>
              <a:t>• Payment API Integration (UPI, Paytm, etc.)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958" y="1233241"/>
            <a:ext cx="2430380" cy="40646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>
                <a:solidFill>
                  <a:srgbClr val="FFFFFF"/>
                </a:solidFill>
              </a:rPr>
              <a:t>🔋 Improvements &amp; Future Expansion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• Collaborate with municipalities &amp; recycling centers.</a:t>
            </a:r>
          </a:p>
          <a:p>
            <a:pPr>
              <a:lnSpc>
                <a:spcPct val="90000"/>
              </a:lnSpc>
            </a:pPr>
            <a:r>
              <a:rPr lang="en-US" sz="2500"/>
              <a:t>• Introduce app leaderboards for top recyclers.</a:t>
            </a:r>
          </a:p>
          <a:p>
            <a:pPr>
              <a:lnSpc>
                <a:spcPct val="90000"/>
              </a:lnSpc>
            </a:pPr>
            <a:r>
              <a:rPr lang="en-US" sz="2500"/>
              <a:t>• Use AI to analyze waste generation patterns.</a:t>
            </a:r>
          </a:p>
          <a:p>
            <a:pPr>
              <a:lnSpc>
                <a:spcPct val="90000"/>
              </a:lnSpc>
            </a:pPr>
            <a:r>
              <a:rPr lang="en-US" sz="2500"/>
              <a:t>• Integrate with carbon credit systems.</a:t>
            </a:r>
          </a:p>
          <a:p>
            <a:pPr>
              <a:lnSpc>
                <a:spcPct val="90000"/>
              </a:lnSpc>
            </a:pPr>
            <a:r>
              <a:rPr lang="en-US" sz="2500"/>
              <a:t>• Expand to smart city projects.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958" y="1233241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🌟 Expected Impact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/>
              <a:t>• Cleaner and greener public areas 🌆</a:t>
            </a:r>
          </a:p>
          <a:p>
            <a:pPr>
              <a:lnSpc>
                <a:spcPct val="90000"/>
              </a:lnSpc>
            </a:pPr>
            <a:r>
              <a:rPr lang="en-US" sz="2700"/>
              <a:t>• Reduced littering 🧹</a:t>
            </a:r>
          </a:p>
          <a:p>
            <a:pPr>
              <a:lnSpc>
                <a:spcPct val="90000"/>
              </a:lnSpc>
            </a:pPr>
            <a:r>
              <a:rPr lang="en-US" sz="2700"/>
              <a:t>• Encourages recycling ♻️</a:t>
            </a:r>
          </a:p>
          <a:p>
            <a:pPr>
              <a:lnSpc>
                <a:spcPct val="90000"/>
              </a:lnSpc>
            </a:pPr>
            <a:r>
              <a:rPr lang="en-US" sz="2700"/>
              <a:t>• Engages citizens in waste management 💚</a:t>
            </a:r>
          </a:p>
          <a:p>
            <a:pPr>
              <a:lnSpc>
                <a:spcPct val="90000"/>
              </a:lnSpc>
            </a:pPr>
            <a:r>
              <a:rPr lang="en-US" sz="2700"/>
              <a:t>• Provides valuable data for city planning 📊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F7D886F-28DE-40F2-A5C2-F89B721DDB37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392</Words>
  <Application>Microsoft Office PowerPoint</Application>
  <PresentationFormat>On-screen Show (4:3)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Smart Waste Reward System (Trash-to-Cash Bin + Mobile App)</vt:lpstr>
      <vt:lpstr>🧩 Project Concept</vt:lpstr>
      <vt:lpstr>📱 App Function &amp; User Flow</vt:lpstr>
      <vt:lpstr>💰 Money Calculation Idea</vt:lpstr>
      <vt:lpstr>⚙️ Hardware Components</vt:lpstr>
      <vt:lpstr>🧠 Software Components</vt:lpstr>
      <vt:lpstr>🔋 Improvements &amp; Future Expansion</vt:lpstr>
      <vt:lpstr>🌟 Expected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Enjamuri Rukmini Goud</cp:lastModifiedBy>
  <cp:revision>2</cp:revision>
  <dcterms:created xsi:type="dcterms:W3CDTF">2013-01-27T09:14:16Z</dcterms:created>
  <dcterms:modified xsi:type="dcterms:W3CDTF">2025-10-07T16:10:05Z</dcterms:modified>
  <cp:category/>
</cp:coreProperties>
</file>